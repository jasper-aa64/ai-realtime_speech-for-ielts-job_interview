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7"/>
  </p:handoutMasterIdLst>
  <p:sldIdLst>
    <p:sldId id="2398" r:id="rId4"/>
    <p:sldId id="2540" r:id="rId5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" id="{5C2DA57A-8517-47B6-A159-AC30CF1BC1BE}">
          <p14:sldIdLst>
            <p14:sldId id="2398"/>
            <p14:sldId id="2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  <p:cmAuthor id="2" name="Wenjie" initials="Wenjie" lastIdx="1" clrIdx="1"/>
  <p:cmAuthor id="3" name="ma jun" initials="l" lastIdx="1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8347A"/>
    <a:srgbClr val="F76363"/>
    <a:srgbClr val="E46C0A"/>
    <a:srgbClr val="77D3A1"/>
    <a:srgbClr val="26D6DA"/>
    <a:srgbClr val="49C380"/>
    <a:srgbClr val="6EDCAA"/>
    <a:srgbClr val="BDF1B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71" autoAdjust="0"/>
    <p:restoredTop sz="90551" autoAdjust="0"/>
  </p:normalViewPr>
  <p:slideViewPr>
    <p:cSldViewPr showGuides="1">
      <p:cViewPr varScale="1">
        <p:scale>
          <a:sx n="73" d="100"/>
          <a:sy n="73" d="100"/>
        </p:scale>
        <p:origin x="66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60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F7F87-B705-48E1-93DD-2F463B3986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E214-B03B-4C66-8673-B5FE50E5E9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A6662-E69A-4A15-9069-CB337776C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E341E-7F41-4A6B-93F2-08F5161250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lang="zh-CN" altLang="en-US" sz="3600" kern="1200" baseline="0" dirty="0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0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97260-2623-4936-802C-0099B9395427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30622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200" b="0" i="0" kern="1200" baseline="0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68760"/>
            <a:ext cx="11247040" cy="4857403"/>
          </a:xfrm>
        </p:spPr>
        <p:txBody>
          <a:bodyPr/>
          <a:lstStyle>
            <a:lvl1pPr marL="215900" indent="-215900">
              <a:lnSpc>
                <a:spcPct val="150000"/>
              </a:lnSpc>
              <a:spcBef>
                <a:spcPts val="35"/>
              </a:spcBef>
              <a:buClrTx/>
              <a:buSzPct val="100000"/>
              <a:buFont typeface="Wingdings" panose="05000000000000000000" pitchFamily="2" charset="2"/>
              <a:buChar char="l"/>
              <a:defRPr sz="2400" b="1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15900">
              <a:lnSpc>
                <a:spcPct val="150000"/>
              </a:lnSpc>
              <a:spcBef>
                <a:spcPts val="35"/>
              </a:spcBef>
              <a:buClrTx/>
              <a:buSzPct val="75000"/>
              <a:buFont typeface="Wingdings" panose="05000000000000000000" pitchFamily="2" charset="2"/>
              <a:buChar char="l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15900">
              <a:lnSpc>
                <a:spcPct val="150000"/>
              </a:lnSpc>
              <a:spcBef>
                <a:spcPts val="35"/>
              </a:spcBef>
              <a:buClrTx/>
              <a:buSzPct val="60000"/>
              <a:buFont typeface="Wingdings" panose="05000000000000000000" pitchFamily="2" charset="2"/>
              <a:buChar char="l"/>
              <a:defRPr sz="17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indent="-215900">
              <a:lnSpc>
                <a:spcPct val="150000"/>
              </a:lnSpc>
              <a:spcBef>
                <a:spcPts val="35"/>
              </a:spcBef>
              <a:buClr>
                <a:schemeClr val="accent6"/>
              </a:buClr>
              <a:buSzPct val="70000"/>
              <a:buFont typeface="Wingdings" panose="05000000000000000000" pitchFamily="2" charset="2"/>
              <a:buChar char="n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spcBef>
                <a:spcPts val="35"/>
              </a:spcBef>
              <a:defRPr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</a:t>
            </a:r>
            <a:r>
              <a:rPr lang="en-US" altLang="zh-CN" dirty="0"/>
              <a:t>d</a:t>
            </a:r>
            <a:r>
              <a:rPr lang="zh-CN" altLang="en-US" dirty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CB399AB-90F7-44E2-8770-EBF406F4C7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4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D3A-6C5C-4E63-B52C-71893AC420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r>
              <a:rPr lang="en-US" altLang="zh-CN" dirty="0"/>
              <a:t>/35</a:t>
            </a:r>
            <a:endParaRPr lang="zh-CN" altLang="en-US" dirty="0"/>
          </a:p>
        </p:txBody>
      </p:sp>
      <p:pic>
        <p:nvPicPr>
          <p:cNvPr id="7" name="Picture 2" descr="http://g.hiphotos.baidu.com/baike/w%3D268%3Bg%3D0/sign=a47879aeef50352ab161220e6b789ccf/7a899e510fb30f24dc2c9a1ace95d143ad4b0370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371" y="80972"/>
            <a:ext cx="715301" cy="536476"/>
          </a:xfrm>
          <a:prstGeom prst="rect">
            <a:avLst/>
          </a:prstGeom>
          <a:noFill/>
        </p:spPr>
      </p:pic>
      <p:sp>
        <p:nvSpPr>
          <p:cNvPr id="8" name="圆角矩形 7"/>
          <p:cNvSpPr/>
          <p:nvPr userDrawn="1"/>
        </p:nvSpPr>
        <p:spPr>
          <a:xfrm flipH="1">
            <a:off x="6035042" y="1844824"/>
            <a:ext cx="60959" cy="43204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流程图: 联系 8"/>
          <p:cNvSpPr/>
          <p:nvPr userDrawn="1"/>
        </p:nvSpPr>
        <p:spPr>
          <a:xfrm>
            <a:off x="5678422" y="3501008"/>
            <a:ext cx="801621" cy="576064"/>
          </a:xfrm>
          <a:prstGeom prst="flowChartConnector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&amp;</a:t>
            </a:r>
            <a:endParaRPr lang="zh-CN" altLang="en-US" sz="1800" dirty="0"/>
          </a:p>
        </p:txBody>
      </p:sp>
      <p:sp>
        <p:nvSpPr>
          <p:cNvPr id="10" name="圆角矩形 9"/>
          <p:cNvSpPr/>
          <p:nvPr userDrawn="1"/>
        </p:nvSpPr>
        <p:spPr>
          <a:xfrm>
            <a:off x="1007435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026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1371" y="1844825"/>
            <a:ext cx="1398173" cy="917551"/>
          </a:xfrm>
          <a:prstGeom prst="rect">
            <a:avLst/>
          </a:prstGeom>
          <a:noFill/>
        </p:spPr>
      </p:pic>
      <p:sp>
        <p:nvSpPr>
          <p:cNvPr id="13" name="圆角矩形 12"/>
          <p:cNvSpPr/>
          <p:nvPr userDrawn="1"/>
        </p:nvSpPr>
        <p:spPr>
          <a:xfrm>
            <a:off x="6960096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4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84032" y="1844825"/>
            <a:ext cx="1398173" cy="9175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576D-D7D0-4C8E-879A-B032848728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068DB-D467-4166-B9B3-9CE72A002BA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7377-D740-4B34-95F7-A32638511E2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7164-2D78-4A99-8F2A-DA637BAA7DB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47F02-D243-44CB-BB06-27EEB074BD3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E699-C99A-4F00-89C5-16FE987B62F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CF2B-71AC-4473-A322-F730B655F1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A1C7-F3CF-4CBB-950A-EC905DB5C76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B3EB-9F04-4209-8774-117987DE696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8D63-588D-4C3F-8B30-F31F5E6ABC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38AD-0D4B-4492-90B3-EBA644D08D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7C4C-4EDB-4C3C-ACCA-2A26491460B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7EFF-47C3-4F6B-90B8-A6E9EAAE53C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7AF0-F440-46B0-878D-1F7FF514786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6CAF-ADF3-4449-BAFA-1546D984BC3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B25-6A53-4085-B3D8-5F18ABE2DE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5A50-92BF-49E8-8100-9C177763D5A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5AF0-377E-480B-B337-FD37CBAD5F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057C6-ECE9-453A-9C09-7339DA785F1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1168D-6F5D-4291-845C-FD99DB2CBA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23EC-83F2-4086-A85A-331E97699F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CED52-9D18-4246-B4C9-59B3275B3D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19736" y="2060848"/>
            <a:ext cx="446151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软件构造</a:t>
            </a:r>
            <a:r>
              <a:rPr lang="en-US" altLang="zh-CN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4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95800" y="4077072"/>
            <a:ext cx="4628190" cy="1311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任课老师 ：李文杰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邮         箱：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</a:rPr>
              <a:t>wjl@ahnu.edu.cn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实验三：</a:t>
            </a:r>
            <a:r>
              <a:rPr>
                <a:sym typeface="+mn-ea"/>
              </a:rPr>
              <a:t>测试驱动的开发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0" dirty="0">
                <a:latin typeface="-apple-system"/>
              </a:rPr>
              <a:t>实验内容：根据实验二完成的业务系统实现，</a:t>
            </a:r>
            <a:r>
              <a:rPr lang="zh-CN" altLang="en-US" b="0" dirty="0">
                <a:solidFill>
                  <a:srgbClr val="FF0000"/>
                </a:solidFill>
                <a:latin typeface="-apple-system"/>
              </a:rPr>
              <a:t>设计多样化的测试用例</a:t>
            </a:r>
            <a:r>
              <a:rPr lang="zh-CN" altLang="en-US" b="0" dirty="0">
                <a:latin typeface="-apple-system"/>
              </a:rPr>
              <a:t>，并写自动化的</a:t>
            </a:r>
            <a:r>
              <a:rPr lang="zh-CN" altLang="en-US" b="0" dirty="0">
                <a:solidFill>
                  <a:srgbClr val="FF0000"/>
                </a:solidFill>
                <a:latin typeface="-apple-system"/>
              </a:rPr>
              <a:t>测试脚本能对系统中的函数、功能模块进行自动化的测试</a:t>
            </a:r>
            <a:r>
              <a:rPr lang="zh-CN" altLang="en-US" b="0" dirty="0">
                <a:latin typeface="-apple-system"/>
              </a:rPr>
              <a:t>，对测试暴露出的系统</a:t>
            </a:r>
            <a:r>
              <a:rPr lang="zh-CN" altLang="en-US" b="0" dirty="0">
                <a:solidFill>
                  <a:srgbClr val="FF0000"/>
                </a:solidFill>
                <a:latin typeface="-apple-system"/>
              </a:rPr>
              <a:t>缺陷进行修复</a:t>
            </a:r>
            <a:endParaRPr lang="en-US" altLang="zh-CN" b="0" dirty="0">
              <a:latin typeface="-apple-system"/>
            </a:endParaRPr>
          </a:p>
          <a:p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实验时间：</a:t>
            </a:r>
            <a:r>
              <a:rPr lang="en-US" altLang="zh-CN" b="0" i="0" dirty="0">
                <a:effectLst/>
                <a:latin typeface="-apple-system"/>
              </a:rPr>
              <a:t>2</a:t>
            </a:r>
            <a:r>
              <a:rPr lang="zh-CN" altLang="en-US" b="0" i="0" dirty="0">
                <a:effectLst/>
                <a:latin typeface="-apple-system"/>
              </a:rPr>
              <a:t>周</a:t>
            </a:r>
            <a:endParaRPr lang="en-US" altLang="zh-CN" b="0" dirty="0">
              <a:latin typeface="-apple-system"/>
            </a:endParaRPr>
          </a:p>
          <a:p>
            <a:endParaRPr lang="en-US" altLang="zh-CN" b="0" dirty="0">
              <a:latin typeface="-apple-system"/>
            </a:endParaRPr>
          </a:p>
          <a:p>
            <a:r>
              <a:rPr lang="zh-CN" altLang="en-US" b="0" dirty="0">
                <a:latin typeface="-apple-system"/>
              </a:rPr>
              <a:t>评分重点</a:t>
            </a:r>
            <a:endParaRPr lang="en-US" altLang="zh-CN" b="0" dirty="0">
              <a:latin typeface="-apple-system"/>
            </a:endParaRPr>
          </a:p>
          <a:p>
            <a:pPr lvl="1"/>
            <a:r>
              <a:rPr lang="zh-CN" altLang="en-US" b="0" dirty="0">
                <a:latin typeface="-apple-system"/>
              </a:rPr>
              <a:t>实验报告中对设计的测试用例，测试脚本进行详细介绍</a:t>
            </a:r>
            <a:endParaRPr lang="zh-CN" altLang="en-US" b="0" dirty="0">
              <a:latin typeface="-apple-system"/>
            </a:endParaRPr>
          </a:p>
          <a:p>
            <a:pPr lvl="1"/>
            <a:r>
              <a:rPr lang="zh-CN" altLang="en-US" b="0" dirty="0">
                <a:latin typeface="-apple-system"/>
              </a:rPr>
              <a:t>对暴露的缺陷和对缺陷具体进行的修复方法等进行介绍</a:t>
            </a:r>
            <a:endParaRPr lang="en-US" altLang="zh-CN" b="0" dirty="0">
              <a:latin typeface="-apple-system"/>
            </a:endParaRPr>
          </a:p>
          <a:p>
            <a:pPr lvl="1"/>
            <a:endParaRPr lang="en-US" altLang="zh-CN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WPS 演示</Application>
  <PresentationFormat>宽屏</PresentationFormat>
  <Paragraphs>20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Trebuchet MS</vt:lpstr>
      <vt:lpstr>Gill Sans MT</vt:lpstr>
      <vt:lpstr>Times New Roman</vt:lpstr>
      <vt:lpstr>-apple-system</vt:lpstr>
      <vt:lpstr>ksdb</vt:lpstr>
      <vt:lpstr>Calibri</vt:lpstr>
      <vt:lpstr>Arial Unicode MS</vt:lpstr>
      <vt:lpstr>Office 主题</vt:lpstr>
      <vt:lpstr>自定义设计方案</vt:lpstr>
      <vt:lpstr>PowerPoint 演示文稿</vt:lpstr>
      <vt:lpstr>实验三：利用模式设计进行类设计并编程实现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李文杰</cp:lastModifiedBy>
  <cp:revision>20382</cp:revision>
  <cp:lastPrinted>1900-01-01T00:00:00Z</cp:lastPrinted>
  <dcterms:created xsi:type="dcterms:W3CDTF">1900-01-01T00:00:00Z</dcterms:created>
  <dcterms:modified xsi:type="dcterms:W3CDTF">2026-05-09T01:50:22Z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97BAACE16D91976A33395A64E3E2191D</vt:lpwstr>
  </property>
  <property fmtid="{D5CDD505-2E9C-101B-9397-08002B2CF9AE}" pid="3" name="KSOProductBuildVer">
    <vt:lpwstr>2052-12.1.0.24034</vt:lpwstr>
  </property>
</Properties>
</file>